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iPhone18 预期果链观察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A 股核心环节、标的信号与风险提示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01/08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170432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261872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16/16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1591056"/>
            <a:ext cx="13350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实时行情成功返回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170432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9448" y="1261872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243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1591056"/>
            <a:ext cx="13350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近一年交易日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240280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331720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660904"/>
            <a:ext cx="13350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不做买入建议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240280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331720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观察池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660904"/>
            <a:ext cx="13350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等待共振确认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只做行业板块与标的信息梳理，不构成买卖建议。数据时点：2026-07-08 16:25。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市场不是全面顺风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半导体与 IT 设备尚有支撑，元器件/机械/电气设备承压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02/08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417320"/>
            <a:ext cx="1645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508760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半导体 +0.47%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37944"/>
            <a:ext cx="1426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相对抗跌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417320"/>
            <a:ext cx="1645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8007" y="1508760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IT设备 +1.89%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007" y="1837944"/>
            <a:ext cx="1426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资金承接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468880"/>
            <a:ext cx="1645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560320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3A3A"/>
                </a:solidFill>
                <a:latin typeface="PingFang SC"/>
              </a:rPr>
              <a:t>元器件 -2.45%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889504"/>
            <a:ext cx="1426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果链核心承压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468880"/>
            <a:ext cx="1645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2560320"/>
            <a:ext cx="14264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3A3A"/>
                </a:solidFill>
                <a:latin typeface="PingFang SC"/>
              </a:rPr>
              <a:t>专用机械 -2.80%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889504"/>
            <a:ext cx="1426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设备端回撤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上证 -0.48%，深成指 -1.87%，创业板 -1.70%；元器件 -2.45%，专用机械 -2.80%，电气设备 -3.77%。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果链拆成五条观察线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组装、光学、FPC、芯片封测、结构设备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03/08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40480"/>
            <a:ext cx="1874519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931920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组装代工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261104"/>
            <a:ext cx="1655063" cy="603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工业富联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3840480"/>
            <a:ext cx="1874519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3931920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光学/摄像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4261104"/>
            <a:ext cx="1655063" cy="603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欧菲光、水晶光电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3840480"/>
            <a:ext cx="1874519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3931920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FPC/PCB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4261104"/>
            <a:ext cx="1655063" cy="603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鹏鼎控股、东山精密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3840480"/>
            <a:ext cx="1874519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3931920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芯片/封测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4261104"/>
            <a:ext cx="1655063" cy="603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澜起科技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8" y="3840480"/>
            <a:ext cx="1874519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3931920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结构/设备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4261104"/>
            <a:ext cx="1655063" cy="603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蓝思科技、领益智造、精研科技、赛腾股份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这不是单一板块行情，而是多个环节共同受 Apple 订单预期、消费电子景气和估值切换影响。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技术状态出现明显分化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强势票少，整理票多，弱势票仍需先修复均线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04/08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143000"/>
            <a:ext cx="32918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234440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强势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1563624"/>
            <a:ext cx="3072384" cy="164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长电科技、赛腾股份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11680"/>
            <a:ext cx="32918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2103120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432304"/>
            <a:ext cx="3072384" cy="164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韦尔股份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880360"/>
            <a:ext cx="32918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971800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高位回踩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3300984"/>
            <a:ext cx="3072384" cy="164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东山精密、澜起科技、蓝思科技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749039"/>
            <a:ext cx="32918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3840479"/>
            <a:ext cx="30723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3A3A"/>
                </a:solidFill>
                <a:latin typeface="PingFang SC"/>
              </a:rPr>
              <a:t>低位弱势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4169663"/>
            <a:ext cx="3072384" cy="164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欧菲光、歌尔股份、欣旺达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强势：长电科技、赛腾股份；修复：韦尔股份；高位回踩：东山精密、澜起科技、蓝思科技；低位弱势：欧菲光、歌尔股份、欣旺达。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强势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强势票看防线，不追叙事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高涨幅标的的核心不是故事，而是 20/60 日线是否守住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05/08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429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749039"/>
            <a:ext cx="3209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东山精密 +447%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78224"/>
            <a:ext cx="32095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高位强势 · 244.47 短压，213.55 风险线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657600"/>
            <a:ext cx="3429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3749039"/>
            <a:ext cx="3209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信维通信 +303%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4078224"/>
            <a:ext cx="32095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整理 · 收复 97.90/103.25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657600"/>
            <a:ext cx="3429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7" y="3749039"/>
            <a:ext cx="3209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澜起科技 +198%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7" y="4078224"/>
            <a:ext cx="32095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回踩 · 230.87 为趋势防线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3429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709159"/>
            <a:ext cx="3209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长电科技 +181%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38344"/>
            <a:ext cx="32095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强势 · 守 89.93；破位看 69.54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617720"/>
            <a:ext cx="3429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7" y="4709159"/>
            <a:ext cx="3209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工业富联 +150%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5038344"/>
            <a:ext cx="32095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整理 · 收复 68.55/70.93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4617720"/>
            <a:ext cx="3429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7" y="4709159"/>
            <a:ext cx="3209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鹏鼎控股 +132%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7" y="5038344"/>
            <a:ext cx="32095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整理 · 站回 92.37 转稳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东山精密、信维通信、澜起科技、长电科技等近一年涨幅巨大，一旦跌破趋势线，回撤弹性会显著放大。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把买卖问题转成触发条件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右侧确认：站回 20/60 日线；风险控制：跌破趋势防线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06/08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234440"/>
            <a:ext cx="3566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325880"/>
            <a:ext cx="3346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右侧确认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1655064"/>
            <a:ext cx="334670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收盘站回 20/60 日线，且板块同步修复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86000"/>
            <a:ext cx="3566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2377440"/>
            <a:ext cx="3346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3A3A"/>
                </a:solidFill>
                <a:latin typeface="PingFang SC"/>
              </a:rPr>
              <a:t>风险触发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706624"/>
            <a:ext cx="334670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放量跌破 60 日线，或强势票单日大跌后不能修复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337560"/>
            <a:ext cx="35661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3429000"/>
            <a:ext cx="3346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左侧克制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3758184"/>
            <a:ext cx="334670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低位票先看 20 日线，不把便宜当成安全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不输出买入建议。只给观察条件：站回关键均线、成交配合、板块同步修复；反向条件是放量跌破 60 日线或预期兑现不及。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风险清单比故事更重要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订单、良率、砍单、汇率、估值、资金拥挤度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07/08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051560"/>
            <a:ext cx="34747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143000"/>
            <a:ext cx="3255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3A3A"/>
                </a:solidFill>
                <a:latin typeface="PingFang SC"/>
              </a:rPr>
              <a:t>Apple 官方节奏未确认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1472184"/>
            <a:ext cx="325526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Apple 官方节奏未确认：iPhone18 仍是市场预期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09928"/>
            <a:ext cx="34747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1801368"/>
            <a:ext cx="3255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订单与砍单风险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130552"/>
            <a:ext cx="325526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订单与砍单风险：供应链传导快于基本面披露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368296"/>
            <a:ext cx="34747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459736"/>
            <a:ext cx="3255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良率/ASP/汇率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2788920"/>
            <a:ext cx="325526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良率/ASP/汇率：影响单机价值量和毛利率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026664"/>
            <a:ext cx="34747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3118104"/>
            <a:ext cx="3255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3A3A"/>
                </a:solidFill>
                <a:latin typeface="PingFang SC"/>
              </a:rPr>
              <a:t>涨幅拥挤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3447288"/>
            <a:ext cx="325526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涨幅拥挤：高位趋势票对负面信息更敏感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685031"/>
            <a:ext cx="34747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3776471"/>
            <a:ext cx="3255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供应链身份需验证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4105655"/>
            <a:ext cx="325526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供应链身份：以公告与客户认证为准，少用传闻定价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供应链身份需以公司公告/客户认证为准；iPhone18 仍为市场预期，不应写成 Apple 官方确认事项。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67074"/>
                </a:solidFill>
                <a:latin typeface="PingFang SC"/>
              </a:rPr>
              <a:t>IPHONE18 EXPECTATION SUPPLY CHAIN · A SHARE WATCHLIST · 2026-07-08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55680" cy="9144"/>
          </a:xfrm>
          <a:prstGeom prst="rect">
            <a:avLst/>
          </a:prstGeom>
          <a:solidFill>
            <a:srgbClr val="D8D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B9532B"/>
                </a:solidFill>
                <a:latin typeface="PingFang SC"/>
              </a:rP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6537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D2528"/>
                </a:solidFill>
                <a:latin typeface="PingFang SC"/>
              </a:rPr>
              <a:t>现阶段更适合做观察池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304288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0">
                <a:solidFill>
                  <a:srgbClr val="667074"/>
                </a:solidFill>
                <a:latin typeface="PingFang SC"/>
              </a:rPr>
              <a:t>分层跟踪，等待均线与板块共振确认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67074"/>
                </a:solidFill>
                <a:latin typeface="PingFang SC"/>
              </a:rPr>
              <a:t>08/08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2801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371600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强势票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1700784"/>
            <a:ext cx="13807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看 20/60 日趋势防线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2801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3728" y="1371600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15E72"/>
                </a:solidFill>
                <a:latin typeface="PingFang SC"/>
              </a:rPr>
              <a:t>弱势票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700784"/>
            <a:ext cx="13807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先看 20 日线修复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3317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423160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532B"/>
                </a:solidFill>
                <a:latin typeface="PingFang SC"/>
              </a:rPr>
              <a:t>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2752344"/>
            <a:ext cx="13807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条件，不是建议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3317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423160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A55"/>
                </a:solidFill>
                <a:latin typeface="PingFang SC"/>
              </a:rPr>
              <a:t>跟踪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752344"/>
            <a:ext cx="13807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b="0">
                <a:solidFill>
                  <a:srgbClr val="667074"/>
                </a:solidFill>
                <a:latin typeface="PingFang SC"/>
              </a:rPr>
              <a:t>板块与个股共振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05332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67074"/>
                </a:solidFill>
                <a:latin typeface="PingFang SC"/>
              </a:rPr>
              <a:t>强势票看趋势防线，弱势票看修复确认；任何个股都不因“果链”标签自动具备安全边际。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